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82296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640080"/>
            <a:ext cx="548640" cy="8229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640080"/>
            <a:ext cx="548640" cy="82296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640080"/>
            <a:ext cx="548640" cy="82296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СИСТЕМНОЕ АДМИНИСТРИРОВАНИЕ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7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Атаки на протокол IP и маршрутизацию и способы защиты, которые применяет системный администратор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OSI · уровень 3 · IPv4 / IPv6 · ICMP · IPsec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4754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1" name="Image 0" descr="/sessions/rcw-01k1pqmit2ipj4uzw6qvsnn9/work/img/i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342339"/>
            <a:ext cx="4608576" cy="276514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31152" y="4325112"/>
            <a:ext cx="4608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уровней модели OSI (Wikimedia Commons)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выступления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716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1463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и разведка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сетевого уровня, заголовки IPv4 и IPv6, классификация угроз, сканирование сети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14630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слайды 4–8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1672" cy="13716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и перехват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3154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spoofing, ARP spoofing, атака «человек посередине», фрагментация, Smurf, ICMP-атаки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6960" y="26974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слайды 10–15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91672" cy="13716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10312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в обслуживании и маршрутизация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flood, DDoS, атаки на маршрутизацию (BGP, RIP, OSPF), защита от DDoS, настройка узлов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6960" y="39319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слайды 17–21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3716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66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2103120" y="5166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защиты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103120" y="5623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и DMZ, IPsec, VPN, системы обнаружения вторжений, чек-лист администратора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0" y="51663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слайды 23–28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ДОКЛАДЧИК 1  ·  СЛАЙДЫ 4–8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и разведка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0" y="9144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сетевой уровень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 IPv4 и IPv6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бывают угрозы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Разведка: ping, traceroute, nmap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6126480"/>
            <a:ext cx="265176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1 · ОСНОВЫ И РАЗВЕДКА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уровень: что защищаем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85216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доставить пакет от узла-источника к узлу-получателю через несколько сетей.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—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адресация (IP), маршрутизация, фрагментация и сборка пакетов.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—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IPv4, IPv6, ICMP, IPsec, а также протоколы маршрутизации OSPF, RIP и BGP.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 —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маршрутизаторы, L3-коммутаторы, межсетевые экраны.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Особенность —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пакет обрабатывается независимо; соединения нет, отправитель не проверяется.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20840" y="1554480"/>
            <a:ext cx="49194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1795882"/>
            <a:ext cx="4773168" cy="2863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93992" y="4873752"/>
            <a:ext cx="4773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уровней модели OSI (Wikimedia Commons)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20840" y="5349240"/>
            <a:ext cx="4919472" cy="960120"/>
          </a:xfrm>
          <a:prstGeom prst="rect">
            <a:avLst/>
          </a:prstGeom>
          <a:solidFill>
            <a:srgbClr val="2F6FED">
              <a:alpha val="10000"/>
            </a:srgbClr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5349240"/>
            <a:ext cx="82296" cy="9601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5349240"/>
            <a:ext cx="4645152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pPr indent="0" marL="0">
              <a:buNone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защищает сетевой уровень, опирается на настройки администратора, а не на сам протокол IP.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1 · ОСНОВЫ И РАЗВЕДКА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IPv4: поля, важные для безопасности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64008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51" y="1581912"/>
            <a:ext cx="6098777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416552"/>
            <a:ext cx="6254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заголовка IPv4 (Wikimedia Commons)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6400800" cy="1280160"/>
          </a:xfrm>
          <a:prstGeom prst="rect">
            <a:avLst/>
          </a:prstGeom>
          <a:solidFill>
            <a:srgbClr val="D64545">
              <a:alpha val="10000"/>
            </a:srgbClr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937760"/>
            <a:ext cx="82296" cy="12801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937760"/>
            <a:ext cx="612648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IP нет ни аутентификации, ни шифрования. Адрес отправителя пишет сам отправитель, проверить его получатель не может.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223760" y="1508760"/>
            <a:ext cx="443484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Destination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отправителя и получателя.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петель; на нём построен traceroute.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Flags, Offset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управляют фрагментацией.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внутри: ICMP (1), TCP (6), UDP (17), ESP (50), AH (51).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контроль ошибок, от подделки не защищает.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1 · ОСНОВЫ И РАЗВЕДКА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IPv6: что изменилось и что осталось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48640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заголовок 40 байт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маршрутизаторам проще его обрабатывать.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128 бит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перебор подсети /64 практически невозможен.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контрольной суммы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проверяют транспортные протоколы.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Фрагментирует только источник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маршрутизаторы по пути пакеты не режут.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Расширяющие заголовки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гибко, но фильтровать сложнее и появляются новые векторы атак.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33095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603715"/>
            <a:ext cx="5184648" cy="25167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82512" y="4187952"/>
            <a:ext cx="5184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заголовка IPv6 (Wikimedia Commons)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4709160"/>
            <a:ext cx="5330952" cy="1554480"/>
          </a:xfrm>
          <a:prstGeom prst="rect">
            <a:avLst/>
          </a:prstGeom>
          <a:solidFill>
            <a:srgbClr val="E08A00">
              <a:alpha val="10000"/>
            </a:srgbClr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4709160"/>
            <a:ext cx="82296" cy="155448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4709160"/>
            <a:ext cx="5056632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</a:t>
            </a:r>
            <a:pPr indent="0" marL="0">
              <a:buNone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угроз не отменяет. Остаются подмена адреса, ICMPv6 и атаки на Neighbor Discovery (аналог ARP spoofing); для защиты используют RA Guard.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1 · ОСНОВЫ И РАЗВЕДКА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угроз сетевого уровня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  <a:gridCol w="286207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Угроза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нарушается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Разведка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ping-сканирование, traceroute, nmap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конфиденциальность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Подмена адреса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spoofing, ARP spoofing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целостность, подлинность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Перехват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sniffing, «человек посередине», ICMP Redirect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конфиденциальность, целостность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 в обслуживании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Smurf, Ping of death, SYN flood, DDoS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Атаки на маршрутизацию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подмена маршрутов RIP/OSPF, перехват префиксов BGP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доступность, конфиденциальность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2F6FED">
              <a:alpha val="10000"/>
            </a:srgbClr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5486400"/>
            <a:ext cx="82296" cy="7772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486400"/>
            <a:ext cx="1081735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классифицировать: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типа нарушения зависит мера защиты. Шифрование не спасёт от DDoS, а фильтрация не защитит от перехвата.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1 · ОСНОВЫ И РАЗВЕДКА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Разведка: с чего начинается атака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66928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узнать, какие узлы живы, как устроена сеть и какие сервисы открыты.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ping, traceroute, nmap; администратор использует те же.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 в логах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серии ICMP-запросов к соседним адресам, перебор портов, пакеты с малым TTL.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ограничивать ICMP, но не блокировать целиком: нужны Fragmentation needed (для PMTUD) и ICMPv6 для работы IPv6.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148072" cy="4023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0020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Команды администратора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873752" cy="3703320"/>
          </a:xfrm>
          <a:prstGeom prst="rect">
            <a:avLst/>
          </a:prstGeom>
          <a:noFill/>
          <a:ln/>
        </p:spPr>
        <p:txBody>
          <a:bodyPr wrap="square" lIns="50800" tIns="25400" rIns="254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какие узлы живы в подсети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 192.168.1.0/24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маршрут до узла (используется TTL)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traceroute 8.8.8.8     # Linux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tracert 8.8.8.8        # Windows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открытые порты и ОС узла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 -O 192.168.1.10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что видно в журнале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"ICMP" /var/log/syslog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5715000"/>
            <a:ext cx="5148072" cy="640080"/>
          </a:xfrm>
          <a:prstGeom prst="rect">
            <a:avLst/>
          </a:prstGeom>
          <a:solidFill>
            <a:srgbClr val="2F6FED">
              <a:alpha val="10000"/>
            </a:srgbClr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5715000"/>
            <a:ext cx="82296" cy="6400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5715000"/>
            <a:ext cx="487375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</a:t>
            </a:r>
            <a:pPr indent="0" marL="0">
              <a:buNone/>
            </a:pPr>
            <a:r>
              <a:rPr lang="en-US" sz="14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проверяйте свою сеть теми же командами, пока этого не сделал кто-то другой.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ДОКЛАДЧИК 2  ·  СЛАЙДЫ 10–15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и перехват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0" y="9144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spoofing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«человек посередине»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Фрагментация и Teardrop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Smurf, Ping of death, ICMP Redirect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6126480"/>
            <a:ext cx="265176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6126480"/>
            <a:ext cx="2651760" cy="73152"/>
          </a:xfrm>
          <a:prstGeom prst="rect">
            <a:avLst/>
          </a:prstGeom>
          <a:solidFill>
            <a:srgbClr val="D64545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spoofing: подмена адреса отправителя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12648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отправитель вписывает в заголовок чужой source-адрес.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скрыть себя, пройти фильтр по «доверенным» адресам, направить ответы на жертву.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идут настоящему владельцу адреса, поэтому атакующий «слеп»: подходит для DoS и отражённых атак.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1994 года: подмена адреса доверенного узла и предсказание номеров TCP.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1508760"/>
            <a:ext cx="469087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252" y="1581912"/>
            <a:ext cx="4011249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22592" y="4782312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IP spoofing (Wikimedia Commons)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303520"/>
            <a:ext cx="11091672" cy="100584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303520"/>
            <a:ext cx="82296" cy="100584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03520"/>
            <a:ext cx="10817352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отбрасывать на границе пакеты из внешней сети с внутренними и частными адресами (RFC 2827, BCP 38); на маршрутизаторе включить uRPF, на Linux — rp_filter=1.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spoofing: подмена связки IP — MAC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2120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760" y="1581912"/>
            <a:ext cx="4663839" cy="3337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965192"/>
            <a:ext cx="5065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ARP spoofing (Wikimedia Commons)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35040" y="1508760"/>
            <a:ext cx="5605272" cy="3840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ARP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IP-адресу найти MAC в локальной сети. ARP относится к канальному уровню, но атака искажает адресацию IP, поэтому её изучают вместе с сетевым уровнем.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злоумышленник рассылает ложные ответы: «IP шлюза — это мой MAC».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жертвы идёт через его узел: перехват, подмена, отказ в обслуживании.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arpspoof, Ettercap, Bettercap.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40680"/>
            <a:ext cx="82296" cy="86868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440680"/>
            <a:ext cx="1081735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ARP Inspection и DHCP snooping на коммутаторе, port security, статическая запись для шлюза (arp -s), мониторинг через arpwatch.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«человек посередине» (MITM)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03504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атакующий встаёт между двумя узлами, пересылает их трафик и может читать и менять его.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попасть на путь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spoofing, поддельный DHCP-сервер или шлюз, ICMP Redirect, ложные маршруты.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опасно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пароли, cookie, письма и файлы в открытом виде; подмена загружаемых данных.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и проверка подлинности: HTTPS/TLS, SSH, IPsec, VPN; не игнорировать предупреждения о сертификатах.</a:t>
            </a:r>
            <a:endParaRPr lang="en-US" sz="17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Профилактика в сети — </a:t>
            </a:r>
            <a:pPr indent="0" marL="0">
              <a:spcAft>
                <a:spcPts val="900"/>
              </a:spcAft>
              <a:buNone/>
            </a:pPr>
            <a:r>
              <a:rPr lang="en-US" sz="17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snooping, DAI, запрет ICMP Redirect, 802.1X.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0" y="1554480"/>
            <a:ext cx="478231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809683"/>
            <a:ext cx="4636008" cy="32934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31152" y="5330952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атаки «человек посередине» (Wikimedia Commons)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Фрагментация как инструмент атаки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6692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581912"/>
            <a:ext cx="533400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828032"/>
            <a:ext cx="5522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Фрагментация IP-пакета (Wikimedia Commons)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46520" y="1508760"/>
            <a:ext cx="5193792" cy="3840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больше MTU (обычно 1500 байт) режется на фрагменты, собирает их получатель.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Teardrop (1997)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перекрывающиеся смещения; старые стеки (Windows 95/NT, Linux) падали при сборке.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и overlapping fragments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TCP прячут во втором фрагменте, чтобы обойти фильтр (RFC 1858).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Фрагментный флуд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незавершённые пакеты переполняют память.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1091672" cy="91440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349240"/>
            <a:ext cx="82296" cy="9144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49240"/>
            <a:ext cx="1081735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ОС, межсетевой экран со сборкой фрагментов (stateful), отбрасывание аномальных фрагментов, согласованные MTU и MSS.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Smurf: отражение и усиление через ICMP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48463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81912"/>
            <a:ext cx="438912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919472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атаки Smurf (Wikimedia Commons)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0" y="1508760"/>
            <a:ext cx="5971032" cy="3840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атакующий шлёт ICMP Echo на broadcast-адрес сети, подставив адрес жертвы как отправителя.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узел сети отвечает жертве; поток ответов многократно больше запроса.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Fraggle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 через UDP echo.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сети защищены по умолчанию, но принцип «отражение + усиление» жив в DNS, NTP, memcached.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40680"/>
            <a:ext cx="82296" cy="86868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440680"/>
            <a:ext cx="1081735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directed-broadcast на маршрутизаторах, net.ipv4.icmp_echo_ignore_broadcasts=1 в Linux, фильтрация spoofed-пакетов (BCP 38), ограничение ICMP.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2 · ПОДМЕНА И ПЕРЕХВАТ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of death и ICMP Redirect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126480" cy="3749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of death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Echo, собранный из фрагментов, превышал 65 535 байт и вызывал переполнение буфера (1990-е). Сегодня исправлено, но показывает цену необновлённой ОС.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Redirect (тип 5)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 советует хосту другой шлюз. Подделка перенаправляет трафик через атакующего.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лавина Echo Request исчерпывает канал и процессор.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1508760"/>
            <a:ext cx="4690872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1659407"/>
            <a:ext cx="4544568" cy="29539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22592" y="4736592"/>
            <a:ext cx="4544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атаки Ping of death (Wikimedia Commons)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1091672" cy="91440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349240"/>
            <a:ext cx="82296" cy="9144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49240"/>
            <a:ext cx="1081735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net.ipv4.conf.all.accept_redirects=0 и send_redirects=0, ограничение скорости ICMP (rate limit), своевременные обновления ОС.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ДОКЛАДЧИК 3  ·  СЛАЙДЫ 17–21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в обслуживании и маршрутизация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0" y="9144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 и SYN cookies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DDoS: ботнеты и усиление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Атаки на BGP, RIP и OSPF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держать удар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маршрутизатора и узла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6126480"/>
            <a:ext cx="265176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6126480"/>
            <a:ext cx="2651760" cy="73152"/>
          </a:xfrm>
          <a:prstGeom prst="rect">
            <a:avLst/>
          </a:prstGeom>
          <a:solidFill>
            <a:srgbClr val="D64545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6126480"/>
            <a:ext cx="2651760" cy="73152"/>
          </a:xfrm>
          <a:prstGeom prst="rect">
            <a:avLst/>
          </a:prstGeom>
          <a:solidFill>
            <a:srgbClr val="E08A00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6126480"/>
            <a:ext cx="2651760" cy="73152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3 · ОТКАЗ В ОБСЛУЖИВАНИИ И МАРШРУТИЗАЦИЯ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flood: переполнение очереди соединений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2004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023" y="1581912"/>
            <a:ext cx="2425634" cy="434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5971032"/>
            <a:ext cx="3054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 (Wikimedia Commons)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77640" y="1508760"/>
            <a:ext cx="7662672" cy="2331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TCP, но удар по инфраструктуре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атаку рассматривают вместе с сетевыми.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SYN-пакетов с поддельными адресами; сервер резервирует запись для каждого и ждёт ACK, который не придёт.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полуоткрытых соединений заполнена, настоящие клиенты не подключаются.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3977640" y="3931920"/>
            <a:ext cx="4389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2" name="Image 1" descr="/sessions/rcw-01k1pqmit2ipj4uzw6qvsnn9/work/img/i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365" y="4005072"/>
            <a:ext cx="3621671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0792" y="5971032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cookies (Wikimedia Commons)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49640" y="3931920"/>
            <a:ext cx="3090672" cy="237744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49640" y="3931920"/>
            <a:ext cx="82296" cy="237744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32520" y="3931920"/>
            <a:ext cx="2816352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buNone/>
            </a:pPr>
            <a:r>
              <a:rPr lang="en-US" sz="14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cookies (tcp_syncookies=1), лимит SYN с одного адреса, больший backlog, фильтрация spoofed-адресов, anti-DDoS у провайдера.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3 · ОТКАЗ В ОБСЛУЖИВАНИИ И МАРШРУТИЗАЦИЯ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DDoS: распределённый отказ в обслуживании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315200" cy="3017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с множества узлов (ботнет); заблокировать один адрес недостаточно.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Объёмные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забивают канал: UDP flood, ICMP flood, отражение и усиление.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Протокольные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исчерпывают таблицы состояний: SYN flood, фрагменты.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Прикладные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flood и подобные; формально выше сетевого уровня.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7315200" cy="173736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177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Коэффициенты усиления (примерно)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28–54×   ·   NTP (monlist): 556×   ·   memcached: до 51 000×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 Mirai и провайдер Dyn (2016); GitHub, 1,35 Тбит/с (2018).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341071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1" name="Image 0" descr="/sessions/rcw-01k1pqmit2ipj4uzw6qvsnn9/work/img/i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156" y="1581912"/>
            <a:ext cx="2895600" cy="4343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02752" y="5971032"/>
            <a:ext cx="3264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Stacheldraht: управляющие узлы и агенты (Wikimedia Commons)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3 · ОТКАЗ В ОБСЛУЖИВАНИИ И МАРШРУТИЗАЦИЯ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Атаки на маршрутизацию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200400"/>
                <a:gridCol w="2770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Известный случай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 hijack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оператор объявляет чужие или более специфичные префиксы, трафик идёт к нему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2008: Pakistan Telecom перехватил адреса YouTube; 2018: перехват DNS Amazon Route 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RPKI/ROA, фильтры префиксов, max-prefix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leak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маршруты по ошибке объявлены не тому соседу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2019: утечка через Verizon затронула Cloudflare и других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строгие prefix-list, проверка изменений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Подмена RIP/OSPF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сеть подставляется маршрут с лучшей метрикой, трафик уходит к атакующему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типичный риск там, где протоколы работают без паролей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аутентификация (MD5, HMAC-SHA), passive-interface на портах с пользователями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Атаки на сессию BGP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сброс TCP-сессии подделанным пакетом 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сбои связности между операторами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MD5 / TCP-AO, GTSM (TTL=255)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5623560"/>
            <a:ext cx="82296" cy="6858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623560"/>
            <a:ext cx="108173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</a:t>
            </a:r>
            <a:pPr indent="0" marL="0">
              <a:buNone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маршрутам нельзя доверять по умолчанию. Каждый сосед должен быть аутентифицирован, а получаемые префиксы проверены.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3 · ОТКАЗ В ОБСЛУЖИВАНИИ И МАРШРУТИЗАЦИЯ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держать удар: защита от DDoS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74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Мера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работает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ограничивает число пакетов в секунду по источнику и типу трафика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cookies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 не хранит состояние, пока не получит ACK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Anycast и CDN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распределяют атакующий трафик по многим площадкам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Scrubbing-центры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трафик проходит через «чистящую» сеть, остаётся только легитимный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RTBH (blackhole)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провайдер отбрасывает весь трафик на атакуемый адрес; крайняя мера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BCP 38 у операторов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меньше поддельных адресов, меньше отражённых атак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реагирования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контакты провайдера, мониторинг NetFlow, пороги оповещений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3 · ОТКАЗ В ОБСЛУЖИВАНИИ И МАРШРУТИЗАЦИЯ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линия: фильтрация и настройка узлов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760720" cy="4069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Cisco IOS: вход из интернета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5486400" cy="3749040"/>
          </a:xfrm>
          <a:prstGeom prst="rect">
            <a:avLst/>
          </a:prstGeom>
          <a:noFill/>
          <a:ln/>
        </p:spPr>
        <p:txBody>
          <a:bodyPr wrap="square" lIns="50800" tIns="25400" rIns="254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OUTSIDE_IN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  ip 10.0.0.0 0.255.255.255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  ip 172.16.0.0 0.15.255.255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  ip 192.168.0.0 0.0.255.255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  ip 127.0.0.0 0.255.255.255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icmp any any echo-reply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host 203.0.113.10 eq 443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  ip any any log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access-group OUTSIDE_IN 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ip directed-broadcast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verify unicast source reachable-via rx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5148072" cy="4069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5448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Linux: sysctl и nftables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4873752" cy="3749040"/>
          </a:xfrm>
          <a:prstGeom prst="rect">
            <a:avLst/>
          </a:prstGeom>
          <a:noFill/>
          <a:ln/>
        </p:spPr>
        <p:txBody>
          <a:bodyPr wrap="square" lIns="50800" tIns="25400" rIns="254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/etc/sysctl.d/99-net-hardening.conf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net.ipv4.conf.all.rp_filter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net.ipv4.conf.all.accept_redirects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net.ipv4.conf.all.send_redirects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net.ipv4.conf.all.accept_source_route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net.ipv4.icmp_echo_ignore_broadcasts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net.ipv4.tcp_syncookies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net.ipv4.conf.all.log_martians = 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nftables: ограничить ping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nft add rule inet filter input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icmp type echo-request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 rate 5/second accept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11091672" cy="658368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669280"/>
            <a:ext cx="108173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закрывает: </a:t>
            </a:r>
            <a:pPr indent="0" marL="0">
              <a:buNone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 адреса — spoofing; directed-broadcast — Smurf; redirects и source routing — MITM; syncookies — SYN flood; rp_filter и uRPF — поддельные адреса.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A3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ДОКЛАДЧИК 4  ·  СЛАЙДЫ 23–28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защиты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0" y="9144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и NAT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IPsec: AH и ESP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9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администратора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6126480"/>
            <a:ext cx="265176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6126480"/>
            <a:ext cx="2651760" cy="73152"/>
          </a:xfrm>
          <a:prstGeom prst="rect">
            <a:avLst/>
          </a:prstGeom>
          <a:solidFill>
            <a:srgbClr val="D64545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6126480"/>
            <a:ext cx="2651760" cy="73152"/>
          </a:xfrm>
          <a:prstGeom prst="rect">
            <a:avLst/>
          </a:prstGeom>
          <a:solidFill>
            <a:srgbClr val="E08A00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6126480"/>
            <a:ext cx="2651760" cy="73152"/>
          </a:xfrm>
          <a:prstGeom prst="rect">
            <a:avLst/>
          </a:prstGeom>
          <a:solidFill>
            <a:srgbClr val="1E9E6A"/>
          </a:solidFill>
          <a:ln w="12700">
            <a:solidFill>
              <a:srgbClr val="26344D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и NAT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94360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Пакетный фильтр (stateless)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заголовку каждого пакета: адреса, порты, протокол.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 соединения и пропускает только ответы на разрешённые запросы.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 и NGFW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разбирают содержимое и приложения, внутри может быть IPS.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— </a:t>
            </a:r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подменяет внутренние адреса внешним, скрывает топологию, но защитой не является: правила файрвола нужны всё равно.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0" y="1554480"/>
            <a:ext cx="487375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9" name="Image 0" descr="/sessions/rcw-01k1pqmit2ipj4uzw6qvsnn9/work/img/i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1631223"/>
            <a:ext cx="4727448" cy="25988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39712" y="4279392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между сетями (Wikimedia Commons)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4800600"/>
            <a:ext cx="4873752" cy="141732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0" y="4800600"/>
            <a:ext cx="82296" cy="141732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4800600"/>
            <a:ext cx="4599432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запрещено всё, что явно не разрешено (default deny). Разрешения добавляют по одному и только под задачу.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DMZ: выделенная зона для публичных сервисов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8" name="Image 0" descr="/sessions/rcw-01k1pqmit2ipj4uzw6qvsnn9/work/img/i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454" y="1581912"/>
            <a:ext cx="4139333" cy="2651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279392"/>
            <a:ext cx="5248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с одним межсетевым экраном (Wikimedia Commons)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150876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1" name="Image 1" descr="/sessions/rcw-01k1pqmit2ipj4uzw6qvsnn9/work/img/i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166" y="1581912"/>
            <a:ext cx="4139333" cy="2651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8504" y="4279392"/>
            <a:ext cx="5248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с двумя межсетевыми экранами (Wikimedia Commons)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8640" y="47091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файрвол с тремя интерфейсами: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DMZ, интернет. Проще и дешевле, но один узел — единая точка отказа.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245352" y="47091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файрвола </a:t>
            </a:r>
            <a:pPr indent="0" marL="0"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(лучше разных производителей): внешний пускает в DMZ, внутренний — только из DMZ в LAN. Надёжнее, дороже.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715000"/>
            <a:ext cx="82296" cy="59436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5715000"/>
            <a:ext cx="1081735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DMZ: </a:t>
            </a:r>
            <a:pPr indent="0" marL="0">
              <a:buNone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веб-, почтовый, DNS-серверы. Из DMZ в LAN — только необходимое, из интернета в LAN — ничего.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IPsec: защита на сетевом уровне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протокола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Целостность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включая часть заголовка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только полезная нагрузка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Шифрование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NAT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(NAT-T, UDP 4500)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60520"/>
            <a:ext cx="512064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Транспортный режим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защищается полезная нагрузка, узел — узел.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Туннельный режим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пакет целиком упаковывается в новый, шлюз — шлюз.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—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через IKEv2 (UDP 500 и 4500).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0" y="1508760"/>
            <a:ext cx="569671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0" name="Image 0" descr="/sessions/rcw-01k1pqmit2ipj4uzw6qvsnn9/work/img/i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3262" y="1581912"/>
            <a:ext cx="5077388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16752" y="3685032"/>
            <a:ext cx="5550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ESP: транспортный и туннельный режимы (Wikimedia Commons)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0" y="4114800"/>
            <a:ext cx="569671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3" name="Image 1" descr="/sessions/rcw-01k1pqmit2ipj4uzw6qvsnn9/work/img/i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96" y="4187952"/>
            <a:ext cx="3474720" cy="1737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6752" y="5971032"/>
            <a:ext cx="5550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AH (Wikimedia Commons)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VPN: защищённый канал через недоверенную сеть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377440"/>
                <a:gridCol w="31363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и основа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/ IKEv2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сетевой уровень, ESP + обмен ключами IKEv2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500, 4500; протокол 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связь между офисами (site-to-site), мобильные клиенты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OpenVPN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поверх UDP или TCP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умолчанию UDP 1194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удалённый доступ, работа через NAT и прокси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WireGuard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UDP, ChaCha20-Poly1305, Curve25519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умолчанию UDP 51820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простая настройка; в ядре Linux с версии 5.6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43400"/>
            <a:ext cx="6766560" cy="2011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или ключи вместо общего пароля, MFA для удалённого доступа.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Криптография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отключить устаревшие алгоритмы (3DES, MD5, SHA-1).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 — </a:t>
            </a:r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осознанно решать, пускать ли весь трафик клиента в туннель (split tunneling).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89520" y="4389120"/>
            <a:ext cx="4050792" cy="1874520"/>
          </a:xfrm>
          <a:prstGeom prst="rect">
            <a:avLst/>
          </a:prstGeom>
          <a:solidFill>
            <a:srgbClr val="1E9E6A">
              <a:alpha val="10000"/>
            </a:srgbClr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4389120"/>
            <a:ext cx="82296" cy="187452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389120"/>
            <a:ext cx="3776472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Помнить: </a:t>
            </a:r>
            <a:pPr indent="0" marL="0">
              <a:buNone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туннель защищает только участок между точками. Компьютеры по обе стороны остаются на ответственности администратора.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и IPS: видеть и останавливать атаки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760720" cy="3383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обнаруживает и сообщает; IPS стоит «в разрыв» и блокирует.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 за трафиком сети (Snort, Suricata, Zeek); HIDS — за событиями на хосте (OSSEC, Wazuh).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сигнатуры известных атак, поиск аномалий, пороги.</a:t>
            </a:r>
            <a:endParaRPr lang="en-US" sz="16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Нюансы — </a:t>
            </a:r>
            <a:pPr indent="0" marL="0">
              <a:spcAft>
                <a:spcPts val="900"/>
              </a:spcAft>
              <a:buNone/>
            </a:pPr>
            <a:r>
              <a:rPr lang="en-US" sz="16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срабатывания, правила нужно обновлять.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5760720" cy="12801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Snort / Suricata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5257800"/>
            <a:ext cx="5486400" cy="960120"/>
          </a:xfrm>
          <a:prstGeom prst="rect">
            <a:avLst/>
          </a:prstGeom>
          <a:noFill/>
          <a:ln/>
        </p:spPr>
        <p:txBody>
          <a:bodyPr wrap="square" lIns="50800" tIns="25400" rIns="254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icmp any any -&gt; $HOME_NET any (msg:"ICMP flood";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itype:8; threshold:type threshold, track by_src,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100, seconds 1; sid:1000001; rev:1;)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508760"/>
            <a:ext cx="2468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2" name="Image 0" descr="/sessions/rcw-01k1pqmit2ipj4uzw6qvsnn9/work/img/i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2205259"/>
            <a:ext cx="2322576" cy="241090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56832" y="528523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(Wikimedia Commons)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71432" y="1508760"/>
            <a:ext cx="2468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E"/>
            </a:solidFill>
            <a:prstDash val="solid"/>
          </a:ln>
        </p:spPr>
      </p:sp>
      <p:pic>
        <p:nvPicPr>
          <p:cNvPr id="15" name="Image 1" descr="/sessions/rcw-01k1pqmit2ipj4uzw6qvsnn9/work/img/i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4" y="2369198"/>
            <a:ext cx="2322576" cy="20830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44584" y="528523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HIDS (Wikimedia Commons)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583680" y="5715000"/>
            <a:ext cx="5056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+ хост дают полную картину: NIDS видит поток, HIDS видит последствия на сервере.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4 · СРЕДСТВА ЗАЩИТЫ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администратора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8288"/>
          </a:xfrm>
          <a:prstGeom prst="rect">
            <a:avLst/>
          </a:prstGeom>
          <a:solidFill>
            <a:srgbClr val="D5DBE4"/>
          </a:solidFill>
          <a:ln w="12700">
            <a:solidFill>
              <a:srgbClr val="D5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и защита на сетевом уровне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  <a:gridCol w="42336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Угроза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Мера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реализовать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Подмена адреса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/ egress фильтрация, uRPF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ACL, rp_filter=1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 spoofing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ARP и DHCP на коммутаторе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DAI, DHCP snooping, port security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Перехват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шифрование каналов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IPsec, WireGuard, TLS, SSH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ICMP-атаки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запрет directed broadcast, лимиты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ip directed-broadcast, nftables limit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flood и DDoS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cookies, лимиты, очистка трафика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tcp_syncookies, anti-DDoS провайдера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Маршрутизация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аутентификация, фильтры префиксов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 MD5/TCP-AO, prefix-list, RPKI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Обнаружение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мониторинг и анализ журналов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Suricata, Snort, syslog, NetFlow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Общее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обновления, минимум служб, сегментация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E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patching, VLAN, DMZ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3716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011680" y="1600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не проверяет отправителя. На этом держатся подмена, отражённые атаки и перехват.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0881360" cy="13716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2743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Атаки на доступность (Smurf, SYN flood, DDoS) требуют сразу нескольких мер: фильтрации, лимитов и помощи провайдера.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13716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011680" y="3886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— основа сети: нужны аутентификация, фильтры префиксов и RPKI.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3716"/>
          </a:xfrm>
          <a:prstGeom prst="rect">
            <a:avLst/>
          </a:prstGeom>
          <a:solidFill>
            <a:srgbClr val="26344D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29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011680" y="5029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складывается из фильтрации, шифрования, мониторинга и обновлений. Одной меры недостаточно.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Вопросы?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791 (IP), RFC 792 (ICMP), RFC 8200 (IPv6), RFC 826 (ARP).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и фрагменты: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2827 (BCP 38), RFC 3704 (BCP 84), RFC 1858.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каналов: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4301, 4302, 4303 (IPsec, AH, ESP), RFC 7296 (IKEv2).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и DoS: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5082 (GTSM), RFC 6480 (RPKI), RFC 4987 (SYN flooding), US-CERT TA14-017A.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 Security Configuration Guide, Linux kernel ip-sysctl, nftables wiki, Snort и Suricata.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Иллюстрации: </a:t>
            </a:r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 (свободные лицензии, авторы указаны на страницах файлов).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Угрозы и защита на сетевом уровне</dc:title>
  <dc:subject>Системное администрирование</dc:subject>
  <dc:creator>PptxGenJS</dc:creator>
  <cp:lastModifiedBy>PptxGenJS</cp:lastModifiedBy>
  <cp:revision>1</cp:revision>
  <dcterms:created xsi:type="dcterms:W3CDTF">2026-10-14T09:53:31Z</dcterms:created>
  <dcterms:modified xsi:type="dcterms:W3CDTF">2026-10-14T09:53:31Z</dcterms:modified>
</cp:coreProperties>
</file>